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56EF97-E17B-F9DA-0960-8E0B2D1ACB00}" v="176" dt="2026-06-04T08:09:14.2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56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0404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B6FFE50D-838F-5E98-5CF7-5AF01135C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6" y="2977"/>
            <a:ext cx="9308670" cy="1554178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DF5599-5C84-BFE0-6562-E0A7B3217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272293"/>
              </p:ext>
            </p:extLst>
          </p:nvPr>
        </p:nvGraphicFramePr>
        <p:xfrm>
          <a:off x="2318754" y="2776191"/>
          <a:ext cx="467022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3340">
                  <a:extLst>
                    <a:ext uri="{9D8B030D-6E8A-4147-A177-3AD203B41FA5}">
                      <a16:colId xmlns:a16="http://schemas.microsoft.com/office/drawing/2014/main" val="1761259112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517732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SRN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749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Parth Jadhav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02fe23bec083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57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Md Danish Shamsher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02fe23bec112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69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Roopashree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02fe23bec122</a:t>
                      </a:r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92422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6280CB8-D926-BD69-5AF5-8A7CD329FE2D}"/>
              </a:ext>
            </a:extLst>
          </p:cNvPr>
          <p:cNvSpPr txBox="1"/>
          <p:nvPr/>
        </p:nvSpPr>
        <p:spPr>
          <a:xfrm>
            <a:off x="94592" y="1284490"/>
            <a:ext cx="8958955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>
              <a:ea typeface="+mn-lt"/>
              <a:cs typeface="+mn-lt"/>
            </a:endParaRPr>
          </a:p>
          <a:p>
            <a:pPr algn="ctr"/>
            <a:r>
              <a:rPr lang="en-US" sz="2400" dirty="0">
                <a:ea typeface="+mn-lt"/>
                <a:cs typeface="+mn-lt"/>
              </a:rPr>
              <a:t>Department of Electronics </a:t>
            </a:r>
            <a:r>
              <a:rPr lang="en-US" sz="2400">
                <a:ea typeface="+mn-lt"/>
                <a:cs typeface="+mn-lt"/>
              </a:rPr>
              <a:t>and Communication</a:t>
            </a:r>
            <a:r>
              <a:rPr lang="en-US" sz="2400" dirty="0">
                <a:ea typeface="+mn-lt"/>
                <a:cs typeface="+mn-lt"/>
              </a:rPr>
              <a:t> Engineering 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algn="ctr"/>
            <a:endParaRPr lang="en-US" dirty="0">
              <a:ea typeface="+mn-lt"/>
              <a:cs typeface="+mn-lt"/>
            </a:endParaRPr>
          </a:p>
          <a:p>
            <a:pPr algn="ctr"/>
            <a:r>
              <a:rPr lang="en-US">
                <a:ea typeface="+mn-lt"/>
                <a:cs typeface="+mn-lt"/>
              </a:rPr>
              <a:t>RFID-Based Authorized Motor Control Using Raspberry Pi Pico H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9990D7-E672-8CD0-B538-68D68E3B84F8}"/>
              </a:ext>
            </a:extLst>
          </p:cNvPr>
          <p:cNvSpPr txBox="1"/>
          <p:nvPr/>
        </p:nvSpPr>
        <p:spPr>
          <a:xfrm>
            <a:off x="3601268" y="4309662"/>
            <a:ext cx="256014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>
                <a:latin typeface="Times New Roman"/>
                <a:cs typeface="Times New Roman"/>
              </a:rPr>
              <a:t>Under the Guidance of</a:t>
            </a:r>
            <a:endParaRPr lang="en-US" sz="1000">
              <a:ea typeface="Calibri"/>
              <a:cs typeface="Calibri"/>
            </a:endParaRPr>
          </a:p>
          <a:p>
            <a:pPr algn="ctr"/>
            <a:r>
              <a:rPr lang="en-US" sz="1000">
                <a:latin typeface="Times New Roman"/>
                <a:cs typeface="Times New Roman"/>
              </a:rPr>
              <a:t>Dr. Vijay Rayar</a:t>
            </a:r>
            <a:endParaRPr lang="en-US" sz="1000">
              <a:ea typeface="Calibri"/>
              <a:cs typeface="Calibri"/>
            </a:endParaRPr>
          </a:p>
          <a:p>
            <a:pPr algn="ctr"/>
            <a:r>
              <a:rPr lang="en-US" sz="1000">
                <a:latin typeface="Times New Roman"/>
                <a:cs typeface="Times New Roman"/>
              </a:rPr>
              <a:t>Designation: Professor</a:t>
            </a:r>
            <a:endParaRPr lang="en-US" sz="1000"/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8400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B98E0">
              <a:alpha val="15000"/>
            </a:srgbClr>
          </a:solidFill>
          <a:ln w="12700">
            <a:solidFill>
              <a:srgbClr val="1B98E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0C49A">
              <a:alpha val="12000"/>
            </a:srgbClr>
          </a:solidFill>
          <a:ln w="12700">
            <a:solidFill>
              <a:srgbClr val="00C49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RFID-Based Authorized Motor Control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5BC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Raspberry Pi Pico H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4114800" cy="27432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Embedded System for Access-Controlled Motor Operation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2011680" cy="457200"/>
          </a:xfrm>
          <a:prstGeom prst="rect">
            <a:avLst/>
          </a:prstGeom>
          <a:solidFill>
            <a:srgbClr val="1B98E0">
              <a:alpha val="25000"/>
            </a:srgbClr>
          </a:solidFill>
          <a:ln w="12700">
            <a:solidFill>
              <a:srgbClr val="1B98E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RC522 RFID Module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3017520"/>
            <a:ext cx="2011680" cy="457200"/>
          </a:xfrm>
          <a:prstGeom prst="rect">
            <a:avLst/>
          </a:prstGeom>
          <a:solidFill>
            <a:srgbClr val="1B98E0">
              <a:alpha val="25000"/>
            </a:srgbClr>
          </a:solidFill>
          <a:ln w="12700">
            <a:solidFill>
              <a:srgbClr val="1B98E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65176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L298N Motor Driver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3017520"/>
            <a:ext cx="2011680" cy="457200"/>
          </a:xfrm>
          <a:prstGeom prst="rect">
            <a:avLst/>
          </a:prstGeom>
          <a:solidFill>
            <a:srgbClr val="1B98E0">
              <a:alpha val="25000"/>
            </a:srgbClr>
          </a:solidFill>
          <a:ln w="12700">
            <a:solidFill>
              <a:srgbClr val="1B98E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3776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Arduino IDE (C++)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Electronics &amp; Communication Engineering  |  Mini Project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22860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228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INTRODUCTION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54864" cy="1325880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3441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RFID Authentication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RC522 module reads UID from NFC tags. Only a pre-programmed authorized UID starts the motor.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17720" y="1234440"/>
            <a:ext cx="54864" cy="1325880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00600" y="13441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Motor Control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6916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driver powers the DC motor at 12V. Motor runs continuously until a manual stop switch is pressed.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54864" cy="1325880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2852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LED Indication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LED on GP25 gives visual feedback — ON for authorized access, OFF on stop or rejection.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274320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617720" y="2743200"/>
            <a:ext cx="54864" cy="1325880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00600" y="2852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Security Logic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32004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unauthorized RFID tag is immediately rejected. System remains in idle state ready for the next scan.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Raspberry Pi Pico H  •  RC522 RFID  •  L298N  •  Arduino IDE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22860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228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LITERATURE SURVEY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&amp; Background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502920" cy="1325880"/>
          </a:xfrm>
          <a:prstGeom prst="rect">
            <a:avLst/>
          </a:prstGeom>
          <a:solidFill>
            <a:srgbClr val="00C49A">
              <a:alpha val="80000"/>
            </a:srgbClr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234440"/>
            <a:ext cx="502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13441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in Access Control Systems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66420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technology has been widely adopted in physical access control since the 1990s. Studies show ISO/IEC 14443-A protocol (used by MFRC522) provides reliable 13.56 MHz NFC tag reading with UID uniqueness for authentication.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23444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617720" y="1234440"/>
            <a:ext cx="502920" cy="1325880"/>
          </a:xfrm>
          <a:prstGeom prst="rect">
            <a:avLst/>
          </a:prstGeom>
          <a:solidFill>
            <a:srgbClr val="00C49A">
              <a:alpha val="80000"/>
            </a:srgbClr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617720" y="1234440"/>
            <a:ext cx="502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12080" y="13441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Motor Control via SPI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166420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H-bridge motor drivers are a standard choice for DC motor control in embedded systems. PWM-based speed control via ENA pin and direction via IN1/IN2 is well-documented in literature.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2743200"/>
            <a:ext cx="502920" cy="1325880"/>
          </a:xfrm>
          <a:prstGeom prst="rect">
            <a:avLst/>
          </a:prstGeom>
          <a:solidFill>
            <a:srgbClr val="00C49A">
              <a:alpha val="80000"/>
            </a:srgbClr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4320" y="2743200"/>
            <a:ext cx="502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8680" y="28529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RP2040 vs ESP8266 for RFID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17296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ESP8266-targeted RFID libraries, the RP2040 (Pico) works best with Arduino-compatible MFRC522 libraries. MicroPython alternatives suffer from platform compatibility issues as observed in this project.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274320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617720" y="2743200"/>
            <a:ext cx="502920" cy="1325880"/>
          </a:xfrm>
          <a:prstGeom prst="rect">
            <a:avLst/>
          </a:prstGeom>
          <a:solidFill>
            <a:srgbClr val="00C49A">
              <a:alpha val="80000"/>
            </a:srgbClr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17720" y="2743200"/>
            <a:ext cx="502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212080" y="28529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 RFID-Based Systems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317296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UID-based authentication is a practical first-level security measure. Literature recommends it for low-cost embedded prototypes where cryptographic RFID protocols are not required.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22860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228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PROBLEM STATEMENT &amp; OBJECTIVES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Solved &amp; Why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0233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1887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⚠  Problem Statement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machinery and motorized systems lack low-cost access control. Physical switches alone do not prevent unauthorized operation. A secure, embedded RFID-based system is needed to allow only authorized users to start a motor.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188720"/>
            <a:ext cx="4389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480560" y="1188720"/>
            <a:ext cx="4389120" cy="347472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480560" y="118872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Objectives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1572768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UID-based RFID authentication on Raspberry Pi Pico H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 12V DC motor via L298N based on access status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visual LED feedback for authorized / denied access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manual motor stop using a push button switch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74320" y="30632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74320" y="36118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Tags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Auth / 1 Denied)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292608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423160" y="30632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12V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423160" y="36118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Supply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92608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0" y="30632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572000" y="36118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0840" y="292608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720840" y="30632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9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720840" y="36118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Switch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(GP17)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22860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228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SYSTEM REQUIREMENTS &amp; SPECIFICATIONS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 Specifications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49A"/>
                </a:solidFill>
              </a:rPr>
              <a:t>Hardware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63040"/>
          <a:ext cx="4160520" cy="227685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Pico 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RP2040, 133MHz, 2MB Flash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RC522 RFID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13.56 MHz, SPI, 3.3V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L298N Motor Driver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H-bridge, 12V, 2A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Motor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12V DC, 300 RPM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Switch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Tactile Push Button, GPIO Pull-Up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Supply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12V Adapter → L298N; 5V USB → Pico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0" y="11430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8E0"/>
                </a:solidFill>
              </a:rPr>
              <a:t>Software &amp; Pin Mapping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463040"/>
          <a:ext cx="4206240" cy="217627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IDE 2.x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 Package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earlephilhower RP2040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RFID Library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MFRC522 by GithubCommunity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 / 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SCK / MOSI / MISO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GP2 / GP3 / GP4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RST / ENA / IN1 / IN2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GP6 / GP14 / GP15 / GP16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274320" y="379476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3794760"/>
            <a:ext cx="73152" cy="77724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548640" y="37947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Authorized UID:  99 142 40 3     |     Unauthorized UID:  2 232 199 1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22860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228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TOOLS USED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Tools &amp; Components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88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788920" cy="347472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Arduino IDE 2.x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FFEE"/>
                </a:solidFill>
              </a:rPr>
              <a:t>Software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591056"/>
            <a:ext cx="25786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development environment. Chosen over Thonny/MicroPython due to stable MFRC522 library support for RP2040.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788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788920" cy="347472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91840" y="11887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MFRC522 Library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1887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FFEE"/>
                </a:solidFill>
              </a:rPr>
              <a:t>Library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10128" y="1591056"/>
            <a:ext cx="25786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GithubCommunity. Handles SPI communication, tag detection, and UID extraction from RC522 module.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2788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126480" y="1188720"/>
            <a:ext cx="2788920" cy="347472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17920" y="11887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RP2040 Board Pkg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11887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FFEE"/>
                </a:solidFill>
              </a:rPr>
              <a:t>Board Support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591056"/>
            <a:ext cx="25786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earlephilhower/arduino-pico. Adds Raspberry Pi Pico H support to Arduino IDE with full SPI peripheral access.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880360"/>
            <a:ext cx="2788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74320" y="2880360"/>
            <a:ext cx="2788920" cy="347472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65760" y="28803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RC522 Module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288036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FFEE"/>
                </a:solidFill>
              </a:rPr>
              <a:t>Hardware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4048" y="3282696"/>
            <a:ext cx="25786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13.56 MHz RFID reader. Communicates via SPI. Version register = 0x92 confirmed wiring during debugging.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2880360"/>
            <a:ext cx="2788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200400" y="2880360"/>
            <a:ext cx="2788920" cy="347472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291840" y="28803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L298N Driver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288036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FFEE"/>
                </a:solidFill>
              </a:rPr>
              <a:t>Hardware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10128" y="3282696"/>
            <a:ext cx="25786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H-bridge IC for bidirectional DC motor control. ENA (PWM), IN1, IN2 control speed and direction from GP14–GP16.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2880360"/>
            <a:ext cx="2788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126480" y="2880360"/>
            <a:ext cx="2788920" cy="347472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217920" y="28803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Raspberry Pi Pico 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7920" y="288036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FFEE"/>
                </a:solidFill>
              </a:rPr>
              <a:t>Microcontroller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36208" y="3282696"/>
            <a:ext cx="25786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RP2040 dual-core ARM Cortex-M0+. 133 MHz, SPI0/SPI1 peripherals used for RC522. Pre-soldered headers (H variant).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22860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228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SYSTEM ARCHITECTURE &amp; BLOCK DIAGRAM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is Connected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1371600" cy="640080"/>
          </a:xfrm>
          <a:prstGeom prst="rect">
            <a:avLst/>
          </a:prstGeom>
          <a:solidFill>
            <a:srgbClr val="475B63"/>
          </a:solidFill>
          <a:ln w="1905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1234440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12V Supply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1521562"/>
            <a:ext cx="1371600" cy="30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FFEE"/>
                </a:solidFill>
              </a:rPr>
              <a:t>Adapter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600200" y="150876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920240" y="1188720"/>
            <a:ext cx="1463040" cy="640080"/>
          </a:xfrm>
          <a:prstGeom prst="rect">
            <a:avLst/>
          </a:prstGeom>
          <a:solidFill>
            <a:srgbClr val="009E7A"/>
          </a:solidFill>
          <a:ln w="1905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920240" y="1234440"/>
            <a:ext cx="1463040" cy="3520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L298N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521562"/>
            <a:ext cx="1463040" cy="30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FFEE"/>
                </a:solidFill>
              </a:rPr>
              <a:t>Motor Driver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83280" y="150876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703320" y="1188720"/>
            <a:ext cx="1371600" cy="640080"/>
          </a:xfrm>
          <a:prstGeom prst="rect">
            <a:avLst/>
          </a:prstGeom>
          <a:solidFill>
            <a:srgbClr val="4A90D9"/>
          </a:solidFill>
          <a:ln w="1905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703320" y="1234440"/>
            <a:ext cx="1371600" cy="3520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DC Motor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03320" y="1521562"/>
            <a:ext cx="1371600" cy="30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FFEE"/>
                </a:solidFill>
              </a:rPr>
              <a:t>12V / OUT1-OUT2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83280" y="2286000"/>
            <a:ext cx="2377440" cy="822960"/>
          </a:xfrm>
          <a:prstGeom prst="rect">
            <a:avLst/>
          </a:prstGeom>
          <a:solidFill>
            <a:srgbClr val="0D1B2A"/>
          </a:solidFill>
          <a:ln w="1905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383280" y="2331720"/>
            <a:ext cx="2377440" cy="4526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Raspberry Pi Pico 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2713939"/>
            <a:ext cx="2377440" cy="3950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FFEE"/>
                </a:solidFill>
              </a:rPr>
              <a:t>RP2040 | GP2–GP17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83280" y="2697480"/>
            <a:ext cx="0" cy="0"/>
          </a:xfrm>
          <a:prstGeom prst="line">
            <a:avLst/>
          </a:prstGeom>
          <a:noFill/>
          <a:ln w="1905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920240" y="2514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B98E0"/>
                </a:solidFill>
              </a:rPr>
              <a:t>ENA/IN1/IN2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" y="2286000"/>
            <a:ext cx="1463040" cy="822960"/>
          </a:xfrm>
          <a:prstGeom prst="rect">
            <a:avLst/>
          </a:prstGeom>
          <a:solidFill>
            <a:srgbClr val="5B3A8B"/>
          </a:solidFill>
          <a:ln w="1905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28600" y="2331720"/>
            <a:ext cx="1463040" cy="4526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RC522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" y="2713939"/>
            <a:ext cx="1463040" cy="3950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FFEE"/>
                </a:solidFill>
              </a:rPr>
              <a:t>RFID Module (SPI)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691640" y="2697480"/>
            <a:ext cx="1691640" cy="0"/>
          </a:xfrm>
          <a:prstGeom prst="line">
            <a:avLst/>
          </a:prstGeom>
          <a:noFill/>
          <a:ln w="19050">
            <a:solidFill>
              <a:srgbClr val="5B3A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691640" y="24871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3A8B"/>
                </a:solidFill>
              </a:rPr>
              <a:t>SPI (GP2–GP6)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1440" y="3383280"/>
            <a:ext cx="868680" cy="502920"/>
          </a:xfrm>
          <a:prstGeom prst="ellipse">
            <a:avLst/>
          </a:prstGeom>
          <a:solidFill>
            <a:srgbClr val="00C49A">
              <a:alpha val="70000"/>
            </a:srgbClr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1440" y="33832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</a:rPr>
              <a:t>Auth Tag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97280" y="3383280"/>
            <a:ext cx="868680" cy="502920"/>
          </a:xfrm>
          <a:prstGeom prst="ellipse">
            <a:avLst/>
          </a:prstGeom>
          <a:solidFill>
            <a:srgbClr val="C0392B">
              <a:alpha val="7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97280" y="338328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</a:rPr>
              <a:t>Denied Tag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3383280"/>
            <a:ext cx="475488" cy="0"/>
          </a:xfrm>
          <a:prstGeom prst="line">
            <a:avLst/>
          </a:prstGeom>
          <a:noFill/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1527048" y="3383280"/>
            <a:ext cx="0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989320" y="2286000"/>
            <a:ext cx="1463040" cy="822960"/>
          </a:xfrm>
          <a:prstGeom prst="rect">
            <a:avLst/>
          </a:prstGeom>
          <a:solidFill>
            <a:srgbClr val="6C757D"/>
          </a:solidFill>
          <a:ln w="1905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989320" y="2331720"/>
            <a:ext cx="1463040" cy="4526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Stop Switch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89320" y="2713939"/>
            <a:ext cx="1463040" cy="3950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FFEE"/>
                </a:solidFill>
              </a:rPr>
              <a:t>GP17 Pull-Up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89320" y="2697480"/>
            <a:ext cx="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486400" y="24871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Signal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589520" y="2286000"/>
            <a:ext cx="1280160" cy="822960"/>
          </a:xfrm>
          <a:prstGeom prst="rect">
            <a:avLst/>
          </a:prstGeom>
          <a:solidFill>
            <a:srgbClr val="E67E22"/>
          </a:solidFill>
          <a:ln w="1905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589520" y="2331720"/>
            <a:ext cx="1280160" cy="4526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Onboard LED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589520" y="2713939"/>
            <a:ext cx="1280160" cy="3950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FFEE"/>
                </a:solidFill>
              </a:rPr>
              <a:t>GP25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589520" y="2697480"/>
            <a:ext cx="0" cy="0"/>
          </a:xfrm>
          <a:prstGeom prst="line">
            <a:avLst/>
          </a:prstGeom>
          <a:noFill/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572000" y="2286000"/>
            <a:ext cx="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617720" y="1828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98E0"/>
                </a:solidFill>
              </a:rPr>
              <a:t>PWM/DIR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28600" y="4023360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28600" y="4023360"/>
            <a:ext cx="73152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Common GND: Pico GND ←→ L298N GND  |  RC522 VCC → Pico 3.3V  |  L298N 12V → Adapter +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22860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228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MODEL-BASED DESIGN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State Machine Design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749040" y="1143000"/>
            <a:ext cx="1737360" cy="1005840"/>
          </a:xfrm>
          <a:prstGeom prst="ellipse">
            <a:avLst/>
          </a:prstGeom>
          <a:solidFill>
            <a:srgbClr val="1B98E0"/>
          </a:solidFill>
          <a:ln w="1905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749040" y="1188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IDLE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9040" y="1600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</a:rPr>
              <a:t>Waiting for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</a:rPr>
              <a:t>RFID Scan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0" y="1143000"/>
            <a:ext cx="1737360" cy="1005840"/>
          </a:xfrm>
          <a:prstGeom prst="ellipse">
            <a:avLst/>
          </a:prstGeom>
          <a:solidFill>
            <a:srgbClr val="8E44AD"/>
          </a:solidFill>
          <a:ln w="1905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675120" y="1188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AUTH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1600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</a:rPr>
              <a:t>UID Check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</a:rPr>
              <a:t>(Match?)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75120" y="2926080"/>
            <a:ext cx="1737360" cy="1005840"/>
          </a:xfrm>
          <a:prstGeom prst="ellipse">
            <a:avLst/>
          </a:prstGeom>
          <a:solidFill>
            <a:srgbClr val="00C49A"/>
          </a:solidFill>
          <a:ln w="1905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675120" y="2971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RUNNING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33832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</a:rPr>
              <a:t>LED 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</a:rPr>
              <a:t>Motor 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05840" y="2926080"/>
            <a:ext cx="1737360" cy="100584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05840" y="2971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DENIED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3832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</a:rPr>
              <a:t>LED OFF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DEEFF"/>
                </a:solidFill>
              </a:rPr>
              <a:t>Motor OFF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1645920"/>
            <a:ext cx="11887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532120" y="144475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Tag Scanned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543800" y="2148840"/>
            <a:ext cx="0" cy="777240"/>
          </a:xfrm>
          <a:prstGeom prst="line">
            <a:avLst/>
          </a:prstGeom>
          <a:noFill/>
          <a:ln w="1905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589520" y="2468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49A"/>
                </a:solidFill>
              </a:rPr>
              <a:t>Authorized ✓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75120" y="1645920"/>
            <a:ext cx="0" cy="160020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749040" y="21945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</a:rPr>
              <a:t>Denied ✗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75120" y="3429000"/>
            <a:ext cx="0" cy="457200"/>
          </a:xfrm>
          <a:prstGeom prst="line">
            <a:avLst/>
          </a:prstGeom>
          <a:noFill/>
          <a:ln w="1905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54880" y="3886200"/>
            <a:ext cx="0" cy="0"/>
          </a:xfrm>
          <a:prstGeom prst="line">
            <a:avLst/>
          </a:prstGeom>
          <a:noFill/>
          <a:ln w="1905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37760" y="3383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98E0"/>
                </a:solidFill>
              </a:rPr>
              <a:t>Stop Button →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98E0"/>
                </a:solidFill>
              </a:rPr>
              <a:t>Back to IDLE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74520" y="2926080"/>
            <a:ext cx="1691640" cy="0"/>
          </a:xfrm>
          <a:prstGeom prst="line">
            <a:avLst/>
          </a:prstGeom>
          <a:noFill/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874520" y="2103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7E22"/>
                </a:solidFill>
              </a:rPr>
              <a:t>Auto Reset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4526280"/>
            <a:ext cx="182880" cy="182880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0292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IDLE State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23160" y="4526280"/>
            <a:ext cx="182880" cy="1828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65176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Auth Check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4526280"/>
            <a:ext cx="182880" cy="18288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0060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Motor Running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20840" y="4526280"/>
            <a:ext cx="182880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94944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Access Denied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22860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228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SIMULATION &amp; ANALYSIS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Debugging &amp; Decision Analysis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298448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28600" y="1298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47088"/>
            <a:ext cx="0" cy="365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14400" y="1188720"/>
            <a:ext cx="7955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14400" y="1188720"/>
            <a:ext cx="914400" cy="777240"/>
          </a:xfrm>
          <a:prstGeom prst="rect">
            <a:avLst/>
          </a:prstGeom>
          <a:solidFill>
            <a:srgbClr val="C0392B">
              <a:alpha val="20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1188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</a:rPr>
              <a:t>Phase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15544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</a:rPr>
              <a:t>FAILED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965960" y="1234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MicroPython Attempt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65960" y="1572768"/>
            <a:ext cx="6720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Thonny IDE used with existing MFRC522 lib. Correct init syntax MFRC522(spi, rst, cs) not supported. Library built for ESP8266 → RuntimeError: Unsupported platform on RP2040.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212848"/>
            <a:ext cx="548640" cy="548640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28600" y="2212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2761488"/>
            <a:ext cx="0" cy="365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914400" y="2103120"/>
            <a:ext cx="7955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14400" y="2103120"/>
            <a:ext cx="914400" cy="777240"/>
          </a:xfrm>
          <a:prstGeom prst="rect">
            <a:avLst/>
          </a:prstGeom>
          <a:solidFill>
            <a:srgbClr val="00C49A">
              <a:alpha val="20000"/>
            </a:srgbClr>
          </a:solidFill>
          <a:ln w="12700">
            <a:solidFill>
              <a:srgbClr val="00C49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1440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49A"/>
                </a:solidFill>
              </a:rPr>
              <a:t>Phase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24688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49A"/>
                </a:solidFill>
              </a:rPr>
              <a:t>SUCCESS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965960" y="21488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SPI Debug Verification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965960" y="2487168"/>
            <a:ext cx="6720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Manually read Version Register via raw SPI. Got 0x92 → confirmed RC522 is working, SPI wiring correct, and power supply is adequate. Problem isolated to library.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127248"/>
            <a:ext cx="548640" cy="548640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28600" y="3127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3675888"/>
            <a:ext cx="0" cy="365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14400" y="3017520"/>
            <a:ext cx="7955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914400" y="3017520"/>
            <a:ext cx="914400" cy="777240"/>
          </a:xfrm>
          <a:prstGeom prst="rect">
            <a:avLst/>
          </a:prstGeom>
          <a:solidFill>
            <a:srgbClr val="00C49A">
              <a:alpha val="20000"/>
            </a:srgbClr>
          </a:solidFill>
          <a:ln w="12700">
            <a:solidFill>
              <a:srgbClr val="00C49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914400" y="3017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49A"/>
                </a:solidFill>
              </a:rPr>
              <a:t>Phase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" y="33832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49A"/>
                </a:solidFill>
              </a:rPr>
              <a:t>SUCCESS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965960" y="30632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Switch to Arduino IDE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965960" y="3401568"/>
            <a:ext cx="6720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Installed earlephilhower/arduino-pico board package and MFRC522 by GithubCommunity. Both UIDs read correctly: 99 142 40 3 and 2 232 199 1.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8600" y="4041648"/>
            <a:ext cx="548640" cy="548640"/>
          </a:xfrm>
          <a:prstGeom prst="ellipse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28600" y="4041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14400" y="3931920"/>
            <a:ext cx="7955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914400" y="3931920"/>
            <a:ext cx="914400" cy="777240"/>
          </a:xfrm>
          <a:prstGeom prst="rect">
            <a:avLst/>
          </a:prstGeom>
          <a:solidFill>
            <a:srgbClr val="00C49A">
              <a:alpha val="20000"/>
            </a:srgbClr>
          </a:solidFill>
          <a:ln w="12700">
            <a:solidFill>
              <a:srgbClr val="00C49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914400" y="3931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49A"/>
                </a:solidFill>
              </a:rPr>
              <a:t>Phase 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14400" y="42976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49A"/>
                </a:solidFill>
              </a:rPr>
              <a:t>SUCCESS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965960" y="39776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Full System Integration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965960" y="4315968"/>
            <a:ext cx="6720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Motor, LED, stop switch integrated with RFID logic. Authorized tag starts motor, unauthorized denied, stop button halts operation. All features working.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22860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228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HARDWARE IMPLEMENTATION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Connections &amp; Code Structure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0233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4023360" cy="347472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1430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Pin Mapping Summary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536192"/>
            <a:ext cx="731520" cy="219456"/>
          </a:xfrm>
          <a:prstGeom prst="rect">
            <a:avLst/>
          </a:prstGeom>
          <a:solidFill>
            <a:srgbClr val="1B98E0">
              <a:alpha val="80000"/>
            </a:srgbClr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7472" y="15361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GP2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43000" y="153619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RC522 SCK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1783080"/>
            <a:ext cx="731520" cy="219456"/>
          </a:xfrm>
          <a:prstGeom prst="rect">
            <a:avLst/>
          </a:prstGeom>
          <a:solidFill>
            <a:srgbClr val="1B98E0">
              <a:alpha val="80000"/>
            </a:srgbClr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7472" y="178308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GP3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43000" y="178308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RC522 MOSI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2029968"/>
            <a:ext cx="731520" cy="219456"/>
          </a:xfrm>
          <a:prstGeom prst="rect">
            <a:avLst/>
          </a:prstGeom>
          <a:solidFill>
            <a:srgbClr val="1B98E0">
              <a:alpha val="80000"/>
            </a:srgbClr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47472" y="202996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GP4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43000" y="2029968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RC522 MISO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276856"/>
            <a:ext cx="731520" cy="219456"/>
          </a:xfrm>
          <a:prstGeom prst="rect">
            <a:avLst/>
          </a:prstGeom>
          <a:solidFill>
            <a:srgbClr val="1B98E0">
              <a:alpha val="80000"/>
            </a:srgbClr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47472" y="2276856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GP5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43000" y="2276856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RC522 SDA (CS)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2523744"/>
            <a:ext cx="731520" cy="219456"/>
          </a:xfrm>
          <a:prstGeom prst="rect">
            <a:avLst/>
          </a:prstGeom>
          <a:solidFill>
            <a:srgbClr val="1B98E0">
              <a:alpha val="80000"/>
            </a:srgbClr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47472" y="252374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GP6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43000" y="252374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RC522 RST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2770632"/>
            <a:ext cx="731520" cy="219456"/>
          </a:xfrm>
          <a:prstGeom prst="rect">
            <a:avLst/>
          </a:prstGeom>
          <a:solidFill>
            <a:srgbClr val="00C49A">
              <a:alpha val="80000"/>
            </a:srgbClr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47472" y="277063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GP14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43000" y="277063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L298N ENA (PWM)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" y="3017520"/>
            <a:ext cx="731520" cy="219456"/>
          </a:xfrm>
          <a:prstGeom prst="rect">
            <a:avLst/>
          </a:prstGeom>
          <a:solidFill>
            <a:srgbClr val="00C49A">
              <a:alpha val="80000"/>
            </a:srgbClr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47472" y="301752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GP15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43000" y="301752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L298N IN1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3264408"/>
            <a:ext cx="731520" cy="219456"/>
          </a:xfrm>
          <a:prstGeom prst="rect">
            <a:avLst/>
          </a:prstGeom>
          <a:solidFill>
            <a:srgbClr val="00C49A">
              <a:alpha val="80000"/>
            </a:srgbClr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47472" y="326440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GP16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43000" y="3264408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L298N IN2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7472" y="3511296"/>
            <a:ext cx="731520" cy="219456"/>
          </a:xfrm>
          <a:prstGeom prst="rect">
            <a:avLst/>
          </a:prstGeom>
          <a:solidFill>
            <a:srgbClr val="E67E22">
              <a:alpha val="80000"/>
            </a:srgbClr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47472" y="3511296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GP17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143000" y="3511296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Stop Switch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7472" y="3758184"/>
            <a:ext cx="731520" cy="219456"/>
          </a:xfrm>
          <a:prstGeom prst="rect">
            <a:avLst/>
          </a:prstGeom>
          <a:solidFill>
            <a:srgbClr val="F1C40F">
              <a:alpha val="80000"/>
            </a:srgbClr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47472" y="3758184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</a:rPr>
              <a:t>GP25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43000" y="375818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Onboard LED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80560" y="1143000"/>
            <a:ext cx="43891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480560" y="1143000"/>
            <a:ext cx="43891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480560" y="114300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Core Logic (Arduino / C++)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480560" y="1490472"/>
            <a:ext cx="4389120" cy="2578608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617720" y="153619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 authUID[] = {99, 142, 40, 3};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617720" y="169621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617720" y="185623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617720" y="201625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(!mfrc522.PICC_IsNewCardPresent())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617720" y="217627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617720" y="233629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mfrc522.PICC_ReadCardSerial();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617720" y="249631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(matchUID(mfrc522.uid.uidByte)) {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617720" y="265633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digitalWrite(LED, HIGH);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617720" y="281635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analogWrite(ENA, 200); // Motor ON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617720" y="297637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(digitalRead(STOP) == HIGH);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617720" y="313639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stopMotor();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617720" y="329641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617720" y="345643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Serial.println("Access Denied");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617720" y="361645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617720" y="3776472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74320" y="4160520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274320" y="4160520"/>
            <a:ext cx="73152" cy="64008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502920" y="4160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Power: 12V Adapter → L298N 12V &amp; GND  |  USB 5V → Pico  |  Common GND between Pico and L298N required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22860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228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TESTING &amp; RESULTS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&amp; Observations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347472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TC-01: Authorized Tag Scan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1289304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0" y="1289304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6367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UID: 99 142 40 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9110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Scan authorized NFC tag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1854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Motor ON, LED 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4597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Serial: Access Granted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Running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2344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17720" y="1234440"/>
            <a:ext cx="41148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09160" y="12344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TC-02: Unauthorized Tag Scan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01000" y="1289304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001000" y="1289304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16367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UID: 2 232 199 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19110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Scan unauthorized NFC tag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1854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Motor OFF, LED OFF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4597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Serial: Access Denied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9260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74320" y="2926080"/>
            <a:ext cx="411480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29260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TC-03: Stop Switch Press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0" y="2980944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657600" y="2980944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33284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UID: —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36027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Press stop switch during run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3877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Motor stops, LED OFF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41513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Serial: Motor Stopped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29260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617720" y="2926080"/>
            <a:ext cx="4114800" cy="347472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09160" y="29260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TC-04: Re-scan After Stop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001000" y="2980944"/>
            <a:ext cx="658368" cy="237744"/>
          </a:xfrm>
          <a:prstGeom prst="roundRect">
            <a:avLst>
              <a:gd name="adj" fmla="val 19231"/>
            </a:avLst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001000" y="2980944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PASS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0" y="33284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UID: 99 142 40 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36027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Scan authorized tag again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54880" y="3877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Motor restarts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54880" y="41513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Serial: Access Granted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Running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B98E0">
              <a:alpha val="10000"/>
            </a:srgbClr>
          </a:solidFill>
          <a:ln w="12700">
            <a:solidFill>
              <a:srgbClr val="1B98E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18288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1B98E0"/>
          </a:solidFill>
          <a:ln w="12700">
            <a:solidFill>
              <a:srgbClr val="1B98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82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APPLICATIONS &amp; FUTURE SCOPE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49A"/>
                </a:solidFill>
              </a:rPr>
              <a:t>Current Applications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Industrial machine access control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9659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Authorized vehicle ignition systems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24231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Conveyor belt access security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28803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Server room / lab equipment lock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337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Smart home door/gate motor lock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1097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C0EB"/>
                </a:solidFill>
              </a:rPr>
              <a:t>Future Enhancements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15087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D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AES-encrypted RFID (MIFARE auth)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1965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D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BLE / WiFi remote override via app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24231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D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Access log stored on SD Card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8803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D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Buzzer alert for unauthorized scan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3337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D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Multi-user UID whitelist support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114800"/>
            <a:ext cx="8503920" cy="685800"/>
          </a:xfrm>
          <a:prstGeom prst="rect">
            <a:avLst/>
          </a:prstGeom>
          <a:solidFill>
            <a:srgbClr val="1B98E0">
              <a:alpha val="20000"/>
            </a:srgbClr>
          </a:solidFill>
          <a:ln w="12700">
            <a:solidFill>
              <a:srgbClr val="1B98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Successfully built a fully working RFID-secured motor control system using Raspberry Pi Pico H and Arduino IDE — demonstrating embedded security, SPI communication, and motor driver integration in a compact hardware prototype.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1385</Words>
  <Application>Microsoft Office PowerPoint</Application>
  <PresentationFormat>On-screen Show (16:9)</PresentationFormat>
  <Paragraphs>269</Paragraphs>
  <Slides>13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RFID-Based Authorized Motor Control Using Raspberry Pi Pico H</dc:title>
  <dc:subject>PptxGenJS Presentation</dc:subject>
  <dc:creator>PptxGenJS</dc:creator>
  <cp:lastModifiedBy>Danish Shamsher</cp:lastModifiedBy>
  <cp:revision>54</cp:revision>
  <dcterms:created xsi:type="dcterms:W3CDTF">2026-06-04T07:37:27Z</dcterms:created>
  <dcterms:modified xsi:type="dcterms:W3CDTF">2026-06-04T08:09:54Z</dcterms:modified>
</cp:coreProperties>
</file>